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8800000" cy="432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822960"/>
            <a:ext cx="27154080" cy="4572000"/>
          </a:xfrm>
          <a:prstGeom prst="rect">
            <a:avLst/>
          </a:prstGeom>
          <a:solidFill>
            <a:srgbClr val="1E5F8C"/>
          </a:solidFill>
          <a:ln>
            <a:solidFill>
              <a:srgbClr val="1E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88720"/>
            <a:ext cx="26422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FFFFFF"/>
                </a:solidFill>
              </a:defRPr>
            </a:pPr>
            <a:r>
              <a:t>Magnetic Resonance Imaging Acceleration Using Diffusion Models:</a:t>
            </a:r>
            <a:br/>
            <a:r>
              <a:t>A Comparative Study of MC‑DDPM and HFS‑SDE</a:t>
            </a:r>
          </a:p>
          <a:p>
            <a:pPr algn="l">
              <a:defRPr sz="4800">
                <a:solidFill>
                  <a:srgbClr val="EBF5FF"/>
                </a:solidFill>
              </a:defRPr>
            </a:pPr>
            <a:r>
              <a:t>João Paulo Ferreira Junior¹*, Renata M. Maria¹, Marcelo A. C. Vieira¹</a:t>
            </a:r>
          </a:p>
          <a:p>
            <a:pPr>
              <a:defRPr sz="3400">
                <a:solidFill>
                  <a:srgbClr val="EBF5FF"/>
                </a:solidFill>
              </a:defRPr>
            </a:pPr>
            <a:r>
              <a:t>¹ Departamento de Engenharia Elétrica e de Computação (SEL), Universidade de São Paulo (USP), Brasil  ·  *Autor correspondente: joaopferreira@usp.br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1005440"/>
            <a:ext cx="2715408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8746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1E5F8C"/>
                </a:solidFill>
              </a:defRPr>
            </a:pPr>
            <a:r>
              <a:t>1. Contexto &amp; Objetivo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675120"/>
            <a:ext cx="87465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E1E1E"/>
                </a:solidFill>
              </a:defRPr>
            </a:pPr>
            <a:r>
              <a:t>• A reconstrução de RM a partir de dados subamostrados é crucial para acelerar exames, reduzindo tempo, custo e artefatos de movimento.</a:t>
            </a:r>
            <a:br/>
            <a:br/>
            <a:r>
              <a:t>• A literatura carece de comparações diretas entre modelos de difusão em protocolos padronizados (mesmo dataset, máscaras e formato de entrada).</a:t>
            </a:r>
            <a:br/>
            <a:br/>
            <a:r>
              <a:t>• Objetivo: comparar MC‑DDPM e HFS‑SDE sob um protocolo unificado (R=4,8,12,16), com PSNR, SSIM e NMSE, e custo de inferência por fatia 320×320.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0"/>
            <a:ext cx="8746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1E5F8C"/>
                </a:solidFill>
              </a:defRPr>
            </a:pPr>
            <a:r>
              <a:t>Contribuições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0"/>
            <a:ext cx="8746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E1E1E"/>
                </a:solidFill>
              </a:defRPr>
            </a:pPr>
            <a:r>
              <a:t>• Protocolo unificado (fastMRI knee singlecoil; treino/teste por fatia; máscaras cartesianas de densidade variável).</a:t>
            </a:r>
            <a:br/>
            <a:r>
              <a:t>• Mesmas métricas e normalização para ambos os métodos.</a:t>
            </a:r>
            <a:br/>
            <a:r>
              <a:t>• Análise quantitativa (tabela/métricas) e qualitativa (exemplos) por R.</a:t>
            </a:r>
            <a:br/>
            <a:r>
              <a:t>• Medição de tempo de inferência para viabilidade prática.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6720" y="5760720"/>
            <a:ext cx="8746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1E5F8C"/>
                </a:solidFill>
              </a:defRPr>
            </a:pPr>
            <a:r>
              <a:t>2. Métodos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26720" y="6675120"/>
            <a:ext cx="874656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E1E1E"/>
                </a:solidFill>
              </a:defRPr>
            </a:pPr>
            <a:r>
              <a:t>Dados e pré-processamento: fastMRI knee singlecoil (PD), normalização para [0,1] e dimensões 320×320 (center‑crop). Treino/avaliação por fatia; exclusão das 5 primeiras e 5 últimas fatias de cada volume.</a:t>
            </a:r>
            <a:br/>
            <a:br/>
            <a:r>
              <a:t>Máscaras: cartesianas de densidade variável com faixa central ACS fixa; linhas de alta frequência amostradas probabilisticamente; fatores R=4,8,12,16.</a:t>
            </a:r>
            <a:br/>
            <a:br/>
            <a:r>
              <a:t>Configuração de treino: early stopping após 3 validações estáveis (a cada 1000 iterações); convergência ~40k iterações para MC‑DDPM e ~60k para HFS‑SDE. GPU RTX 4060 Ti 16GB.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26720" y="13990320"/>
            <a:ext cx="8746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1E5F8C"/>
                </a:solidFill>
              </a:defRPr>
            </a:pPr>
            <a:r>
              <a:t>Pipeline (esquemático)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26720" y="14904720"/>
            <a:ext cx="8746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E1E1E"/>
                </a:solidFill>
              </a:defRPr>
            </a:pPr>
            <a:r>
              <a:t>Entrada: k‑space subamostrado (R)  →  Condicionamento/consistência de dados  →  Processo de difusão (MC‑DDPM / HFS‑SDE)  →  Reconstrução da magnitude  →  Métricas (PSNR, SSIM, NMSE).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30480" y="5760720"/>
            <a:ext cx="8746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1E5F8C"/>
                </a:solidFill>
              </a:defRPr>
            </a:pPr>
            <a:r>
              <a:t>3. Resultados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30480" y="6675120"/>
            <a:ext cx="8746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E1E1E"/>
                </a:solidFill>
              </a:defRPr>
            </a:pPr>
            <a:r>
              <a:t>MC‑DDPM superou o HFS‑SDE em todas as acelerações, com diferenças maiores em R elevados. Abaixo, médias por fatia (320×320) no conjunto de teste.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9230480" y="8961120"/>
          <a:ext cx="87465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508"/>
                <a:gridCol w="1249508"/>
                <a:gridCol w="1249508"/>
                <a:gridCol w="1249508"/>
                <a:gridCol w="1249508"/>
                <a:gridCol w="1249508"/>
                <a:gridCol w="1249512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2000"/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2000"/>
                      </a:pPr>
                      <a:r>
                        <a:t>PSNR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2000"/>
                      </a:pPr>
                      <a:r>
                        <a:t>SSIM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2000"/>
                      </a:pPr>
                      <a:r>
                        <a:t>NMSE (×10⁻³)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2000"/>
                      </a:pPr>
                      <a:r>
                        <a:t>PSNR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2000"/>
                      </a:pPr>
                      <a:r>
                        <a:t>SSIM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2000"/>
                      </a:pPr>
                      <a:r>
                        <a:t>NMSE (×10⁻³)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35.3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0.889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29.2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0.767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1.19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32.6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0.829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28.1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0.703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1.56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26.6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0.715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2.18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24.3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0.644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3.74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23.4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0.670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4.52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19.8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0.540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10.40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9230480" y="8412480"/>
            <a:ext cx="874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E1E1E"/>
                </a:solidFill>
              </a:defRPr>
            </a:pPr>
            <a:r>
              <a:t>MC‑DDPM                                     HFS‑SDE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30480" y="13075920"/>
            <a:ext cx="8746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1E5F8C"/>
                </a:solidFill>
              </a:defRPr>
            </a:pPr>
            <a:r>
              <a:t>4. Conclusões &amp; Implicações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30480" y="13990320"/>
            <a:ext cx="8746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E1E1E"/>
                </a:solidFill>
              </a:defRPr>
            </a:pPr>
            <a:r>
              <a:t>• Vantagem consistente do MC‑DDPM em PSNR/SSIM e menor NMSE em todos os R.</a:t>
            </a:r>
            <a:br/>
            <a:r>
              <a:t>• HFS‑SDE mostrou maior sensibilidade à subamostragem agressiva (R≥12).</a:t>
            </a:r>
            <a:br/>
            <a:r>
              <a:t>• Tempo de inferência (320×320): MC‑DDPM ≈ 24 min 33 s; HFS‑SDE ≈ 8 min 12 s (~3× mais rápido), o que exige ponderação prática entre qualidade e latência.</a:t>
            </a:r>
            <a:br/>
            <a:r>
              <a:t>• Próximos passos: avaliar variantes condicionadas no espaço‑k e abordagens híbridas sob o mesmo protocolo.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90640" y="41096880"/>
            <a:ext cx="5303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>
                <a:solidFill>
                  <a:srgbClr val="1E1E1E"/>
                </a:solidFill>
              </a:defRPr>
            </a:pPr>
            <a:r>
              <a:t>QR: Artigo • Código • Dados • Contato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1096880"/>
            <a:ext cx="21484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1E1E1E"/>
                </a:solidFill>
              </a:defRPr>
            </a:pPr>
            <a:r>
              <a:t>Agradecimentos / Financiamento / Logos (colocar aqui)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