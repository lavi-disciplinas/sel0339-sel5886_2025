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8800000" cy="432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27336960" cy="4297680"/>
          </a:xfrm>
          <a:prstGeom prst="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892040"/>
            <a:ext cx="27336960" cy="137160"/>
          </a:xfrm>
          <a:prstGeom prst="rect">
            <a:avLst/>
          </a:prstGeom>
          <a:solidFill>
            <a:srgbClr val="165082"/>
          </a:solidFill>
          <a:ln>
            <a:solidFill>
              <a:srgbClr val="16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49352" y="5212080"/>
            <a:ext cx="36576" cy="35976240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014072" y="5212080"/>
            <a:ext cx="36576" cy="35976240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005840"/>
            <a:ext cx="19135872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0" b="1">
                <a:solidFill>
                  <a:srgbClr val="1E1E20"/>
                </a:solidFill>
              </a:defRPr>
            </a:pPr>
            <a:r>
              <a:t>Magnetic Resonance Imaging Acceleration Using Diffusion Models:</a:t>
            </a:r>
            <a:br/>
            <a:r>
              <a:t>A Comparative Study of MC-DDPM and HFS-SDE</a:t>
            </a:r>
          </a:p>
          <a:p>
            <a:pPr>
              <a:defRPr sz="4400">
                <a:solidFill>
                  <a:srgbClr val="1E1E20"/>
                </a:solidFill>
              </a:defRPr>
            </a:pPr>
            <a:r>
              <a:t>João Paulo Ferreira Junior¹*, Renata M. Maria¹, Marcelo A. C. Vieira¹</a:t>
            </a:r>
          </a:p>
          <a:p>
            <a:pPr>
              <a:defRPr sz="3200">
                <a:solidFill>
                  <a:srgbClr val="464B50"/>
                </a:solidFill>
              </a:defRPr>
            </a:pPr>
            <a:r>
              <a:t>¹ Departamento de Engenharia Elétrica e de Computação (SEL), Universidade de São Paulo (USP), Brasil  ·  *Autor correspondente: joaopferreira@usp.br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687500" y="1188720"/>
            <a:ext cx="7106659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000">
                <a:solidFill>
                  <a:srgbClr val="5A5F64"/>
                </a:solidFill>
              </a:defRPr>
            </a:pPr>
            <a:r>
              <a:t>[logo da universidade]</a:t>
            </a:r>
          </a:p>
          <a:p>
            <a:pPr algn="r">
              <a:defRPr sz="3400">
                <a:solidFill>
                  <a:srgbClr val="6E7378"/>
                </a:solidFill>
              </a:defRPr>
            </a:pPr>
            <a:r>
              <a:t>[logo do departamento]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8807520" cy="320040"/>
          </a:xfrm>
          <a:prstGeom prst="rect">
            <a:avLst/>
          </a:prstGeom>
          <a:solidFill>
            <a:srgbClr val="E8EFF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349240"/>
            <a:ext cx="853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165082"/>
                </a:solidFill>
              </a:defRPr>
            </a:pPr>
            <a:r>
              <a:t>1. Contexto &amp; Objetivo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8807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E1E20"/>
                </a:solidFill>
              </a:defRPr>
            </a:pPr>
            <a:r>
              <a:t>• Acelerar RM reduz tempo e custo, e mitigando artefatos de movimento.</a:t>
            </a:r>
            <a:br/>
            <a:r>
              <a:t>• Falta protocolo padronizado comparando difusão (mesmo dataset/máscaras/entradas).</a:t>
            </a:r>
            <a:br/>
            <a:r>
              <a:t>• Objetivo: comparar MC-DDPM × HFS-SDE sob protocolo unificado (R=4,8,12,16), avaliando PSNR, SSIM, NMSE e tempo de inferência por fatia (320×320).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1521440"/>
            <a:ext cx="8807520" cy="320040"/>
          </a:xfrm>
          <a:prstGeom prst="rect">
            <a:avLst/>
          </a:prstGeom>
          <a:solidFill>
            <a:srgbClr val="E8EFF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1475720"/>
            <a:ext cx="853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165082"/>
                </a:solidFill>
              </a:defRPr>
            </a:pPr>
            <a:r>
              <a:t>Contribuições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2070080"/>
            <a:ext cx="880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E1E20"/>
                </a:solidFill>
              </a:defRPr>
            </a:pPr>
            <a:r>
              <a:t>• Protocolo unificado (fastMRI knee singlecoil; avaliação por fatia).</a:t>
            </a:r>
            <a:br/>
            <a:r>
              <a:t>• Máscaras cartesianas com faixa central fixa (ACS).</a:t>
            </a:r>
            <a:br/>
            <a:r>
              <a:t>• Métricas consistentes e análise qualitativa.</a:t>
            </a:r>
            <a:br/>
            <a:r>
              <a:t>• Medição de latência de inferência por método.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96240" y="5394960"/>
            <a:ext cx="8807520" cy="320040"/>
          </a:xfrm>
          <a:prstGeom prst="rect">
            <a:avLst/>
          </a:prstGeom>
          <a:solidFill>
            <a:srgbClr val="E8EFF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33400" y="5349240"/>
            <a:ext cx="853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165082"/>
                </a:solidFill>
              </a:defRPr>
            </a:pPr>
            <a:r>
              <a:t>2. Métodos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96240" y="5943600"/>
            <a:ext cx="8807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E1E20"/>
                </a:solidFill>
              </a:defRPr>
            </a:pPr>
            <a:r>
              <a:t>Dados &amp; pré-processamento: fastMRI knee singlecoil (PD); normalização/resize 320×320; exclusão de 5 fatias iniciais e finais por volume.</a:t>
            </a:r>
            <a:br/>
            <a:br/>
            <a:r>
              <a:t>Máscaras: cartesianas de densidade variável com faixa central ACS.</a:t>
            </a:r>
            <a:br/>
            <a:br/>
            <a:r>
              <a:t>Treino/avaliação: por fatia; métricas PSNR/SSIM/NMSE.</a:t>
            </a:r>
            <a:br/>
            <a:br/>
            <a:r>
              <a:t>Hardware: GPU RTX 4060 Ti 16 GB.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96240" y="11795760"/>
            <a:ext cx="8807520" cy="320040"/>
          </a:xfrm>
          <a:prstGeom prst="rect">
            <a:avLst/>
          </a:prstGeom>
          <a:solidFill>
            <a:srgbClr val="E8EFF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33400" y="11750040"/>
            <a:ext cx="853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165082"/>
                </a:solidFill>
              </a:defRPr>
            </a:pPr>
            <a:r>
              <a:t>Figura — Pipeline / Resultado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96240" y="12344400"/>
            <a:ext cx="880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E1E20"/>
                </a:solidFill>
              </a:defRPr>
            </a:pPr>
            <a:r>
              <a:t>[imagem do artigo mostrando o resultado]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60960" y="5394960"/>
            <a:ext cx="8807520" cy="320040"/>
          </a:xfrm>
          <a:prstGeom prst="rect">
            <a:avLst/>
          </a:prstGeom>
          <a:solidFill>
            <a:srgbClr val="E8EFF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398120" y="5349240"/>
            <a:ext cx="853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165082"/>
                </a:solidFill>
              </a:defRPr>
            </a:pPr>
            <a:r>
              <a:t>3. Resultados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60960" y="5943600"/>
            <a:ext cx="880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E1E20"/>
                </a:solidFill>
              </a:defRPr>
            </a:pPr>
            <a:r>
              <a:t>MC-DDPM supera HFS-SDE em todas as acelerações (R). Diferenças aumentam em R altos.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60960" y="7772400"/>
            <a:ext cx="880752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E1E20"/>
                </a:solidFill>
                <a:latin typeface="Calibri"/>
              </a:defRPr>
            </a:pPr>
            <a:r>
              <a:t>R    MC-PSNR  MC-SSIM  MC-NMSE  |  HFS-PSNR  HFS-SSIM  HFS-NMSE</a:t>
            </a:r>
            <a:br/>
            <a:r>
              <a:t>4    35.3     0.889    0.29     |  29.2      0.767     1.19</a:t>
            </a:r>
            <a:br/>
            <a:r>
              <a:t>8    32.6     0.829    0.56     |  28.1      0.703     1.56</a:t>
            </a:r>
            <a:br/>
            <a:r>
              <a:t>12   26.6     0.715    2.18     |  24.3      0.644     3.74</a:t>
            </a:r>
            <a:br/>
            <a:r>
              <a:t>16   23.4     0.670    4.52     |  19.8      0.540     10.40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60960" y="11612880"/>
            <a:ext cx="8807520" cy="320040"/>
          </a:xfrm>
          <a:prstGeom prst="rect">
            <a:avLst/>
          </a:prstGeom>
          <a:solidFill>
            <a:srgbClr val="E8EFF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398120" y="11567159"/>
            <a:ext cx="853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165082"/>
                </a:solidFill>
              </a:defRPr>
            </a:pPr>
            <a:r>
              <a:t>4. Conclusões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60960" y="12161520"/>
            <a:ext cx="880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E1E20"/>
                </a:solidFill>
              </a:defRPr>
            </a:pPr>
            <a:r>
              <a:t>• MC-DDPM: melhor PSNR/SSIM (menor NMSE) em todos os R.</a:t>
            </a:r>
            <a:br/>
            <a:r>
              <a:t>• HFS-SDE: sensível a R≥12.</a:t>
            </a:r>
            <a:br/>
            <a:r>
              <a:t>• Latência de inferência: HFS-SDE ~3× mais rápido — trade-off qualidade × tempo.</a:t>
            </a:r>
            <a:br/>
            <a:r>
              <a:t>• Próximos passos: condicionamento em k-space e híbridos sob mesmo protocolo.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1371200"/>
            <a:ext cx="27336960" cy="1097280"/>
          </a:xfrm>
          <a:prstGeom prst="rect">
            <a:avLst/>
          </a:prstGeom>
          <a:solidFill>
            <a:srgbClr val="F5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1508360"/>
            <a:ext cx="15035328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E1E20"/>
                </a:solidFill>
              </a:defRPr>
            </a:pPr>
            <a:r>
              <a:t>Agradecimentos / Financiamento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586956" y="41508360"/>
            <a:ext cx="10934784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>
                <a:solidFill>
                  <a:srgbClr val="1E1E20"/>
                </a:solidFill>
              </a:defRPr>
            </a:pPr>
            <a:r>
              <a:t>QR: Artigo • Código • Dados • Contato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